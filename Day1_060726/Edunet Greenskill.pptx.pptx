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Montserrat" charset="1" panose="00000500000000000000"/>
      <p:regular r:id="rId13"/>
    </p:embeddedFont>
    <p:embeddedFont>
      <p:font typeface="Montserrat Bold" charset="1" panose="00000800000000000000"/>
      <p:regular r:id="rId14"/>
    </p:embeddedFont>
    <p:embeddedFont>
      <p:font typeface="Aptos" charset="1" panose="020B0004020202020204"/>
      <p:regular r:id="rId15"/>
    </p:embeddedFont>
    <p:embeddedFont>
      <p:font typeface="Aptos Bold" charset="1" panose="020B0004020202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67080" y="1995472"/>
            <a:ext cx="14953840" cy="6362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6"/>
              </a:lnSpc>
            </a:pPr>
            <a:r>
              <a:rPr lang="en-US" sz="522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SHARMA BHAVESHKUMAR PANKAJBHAI</a:t>
            </a:r>
          </a:p>
          <a:p>
            <a:pPr algn="ctr">
              <a:lnSpc>
                <a:spcPts val="5646"/>
              </a:lnSpc>
            </a:pPr>
          </a:p>
          <a:p>
            <a:pPr algn="ctr">
              <a:lnSpc>
                <a:spcPts val="5646"/>
              </a:lnSpc>
            </a:pPr>
            <a:r>
              <a:rPr lang="en-US" sz="522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Enrollment - </a:t>
            </a:r>
            <a:r>
              <a:rPr lang="en-US" sz="5228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230840131124</a:t>
            </a:r>
          </a:p>
          <a:p>
            <a:pPr algn="ctr">
              <a:lnSpc>
                <a:spcPts val="5646"/>
              </a:lnSpc>
            </a:pPr>
          </a:p>
          <a:p>
            <a:pPr algn="ctr">
              <a:lnSpc>
                <a:spcPts val="5646"/>
              </a:lnSpc>
            </a:pPr>
            <a:r>
              <a:rPr lang="en-US" sz="522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Stream - Computer Science and Engineering</a:t>
            </a:r>
          </a:p>
          <a:p>
            <a:pPr algn="ctr">
              <a:lnSpc>
                <a:spcPts val="5646"/>
              </a:lnSpc>
            </a:pPr>
          </a:p>
          <a:p>
            <a:pPr algn="ctr">
              <a:lnSpc>
                <a:spcPts val="5646"/>
              </a:lnSpc>
            </a:pPr>
            <a:r>
              <a:rPr lang="en-US" sz="522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College - R.N.G. Patel Institute of Technology</a:t>
            </a:r>
          </a:p>
          <a:p>
            <a:pPr algn="ctr">
              <a:lnSpc>
                <a:spcPts val="5646"/>
              </a:lnSpc>
            </a:pPr>
          </a:p>
          <a:p>
            <a:pPr algn="ctr">
              <a:lnSpc>
                <a:spcPts val="5646"/>
              </a:lnSpc>
              <a:spcBef>
                <a:spcPct val="0"/>
              </a:spcBef>
            </a:pPr>
            <a:r>
              <a:rPr lang="en-US" sz="522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Date - 06 July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721557"/>
            <a:chOff x="0" y="0"/>
            <a:chExt cx="21031200" cy="9620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962072"/>
            </a:xfrm>
            <a:custGeom>
              <a:avLst/>
              <a:gdLst/>
              <a:ahLst/>
              <a:cxnLst/>
              <a:rect r="r" b="b" t="t" l="l"/>
              <a:pathLst>
                <a:path h="962072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62072"/>
                  </a:lnTo>
                  <a:lnTo>
                    <a:pt x="0" y="9620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5948" r="0" b="-37594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21031200" cy="9049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15"/>
                </a:lnSpc>
              </a:pPr>
              <a:r>
                <a:rPr lang="en-US" sz="594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THINGS I LERANED FROM THE LINKS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30773" y="1635395"/>
            <a:ext cx="16008487" cy="8018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42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Sustainable Development Goals (SDGs)</a:t>
            </a:r>
          </a:p>
          <a:p>
            <a:pPr algn="l" marL="687707" indent="-343853" lvl="1">
              <a:lnSpc>
                <a:spcPts val="3693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The collection of 17 SDGs works toward achieving sustainable development within the 2030 timeframe.</a:t>
            </a:r>
          </a:p>
          <a:p>
            <a:pPr algn="l" marL="687707" indent="-343853" lvl="1">
              <a:lnSpc>
                <a:spcPts val="3693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The SDG I find most compelling: SDG 17 – Partnerships for the Goals</a:t>
            </a:r>
          </a:p>
          <a:p>
            <a:pPr algn="l" marL="687707" indent="-343853" lvl="1">
              <a:lnSpc>
                <a:spcPts val="3693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Prom</a:t>
            </a:r>
            <a:r>
              <a:rPr lang="en-US" sz="38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otes cooperative efforts among governmental bodies, business sectors, and private citizens.</a:t>
            </a:r>
          </a:p>
          <a:p>
            <a:pPr algn="l" marL="687707" indent="-343853" lvl="1">
              <a:lnSpc>
                <a:spcPts val="3693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Fosters creative solutions and worldwide environmental responsibility.</a:t>
            </a:r>
          </a:p>
          <a:p>
            <a:pPr algn="l" marL="1560195" indent="-520065" lvl="2">
              <a:lnSpc>
                <a:spcPts val="4082"/>
              </a:lnSpc>
            </a:pPr>
            <a:r>
              <a:rPr lang="en-US" b="true" sz="42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AI Data Center Documentary</a:t>
            </a:r>
          </a:p>
          <a:p>
            <a:pPr algn="l" marL="687707" indent="-343853" lvl="1">
              <a:lnSpc>
                <a:spcPts val="3693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</a:t>
            </a:r>
            <a:r>
              <a:rPr lang="en-US" sz="38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ata centers supporting AI operations require substantial quantities of electrical power and water resources.</a:t>
            </a:r>
          </a:p>
          <a:p>
            <a:pPr algn="l" marL="687707" indent="-343853" lvl="1">
              <a:lnSpc>
                <a:spcPts val="3693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The expansion of AI technology leads to heightened energy consumption and greenhouse gas output.</a:t>
            </a:r>
          </a:p>
          <a:p>
            <a:pPr algn="l" marL="687707" indent="-343853" lvl="1">
              <a:lnSpc>
                <a:spcPts val="3693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Environmentally conscious AI approaches encompass:</a:t>
            </a:r>
          </a:p>
          <a:p>
            <a:pPr algn="l" marL="1640844" indent="-546948" lvl="2">
              <a:lnSpc>
                <a:spcPts val="3693"/>
              </a:lnSpc>
              <a:buFont typeface="Arial"/>
              <a:buChar char="⚬"/>
            </a:pPr>
            <a:r>
              <a:rPr lang="en-US" sz="38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Sustai</a:t>
            </a:r>
            <a:r>
              <a:rPr lang="en-US" sz="38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nable Energy Sources</a:t>
            </a:r>
          </a:p>
          <a:p>
            <a:pPr algn="l" marL="1640844" indent="-546948" lvl="2">
              <a:lnSpc>
                <a:spcPts val="3693"/>
              </a:lnSpc>
              <a:buFont typeface="Arial"/>
              <a:buChar char="⚬"/>
            </a:pPr>
            <a:r>
              <a:rPr lang="en-US" sz="38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Advanced Temperature Control Methods</a:t>
            </a:r>
          </a:p>
          <a:p>
            <a:pPr algn="l" marL="1640844" indent="-546948" lvl="2">
              <a:lnSpc>
                <a:spcPts val="3693"/>
              </a:lnSpc>
              <a:buFont typeface="Arial"/>
              <a:buChar char="⚬"/>
            </a:pPr>
            <a:r>
              <a:rPr lang="en-US" sz="38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Power Usage Enhancement</a:t>
            </a:r>
          </a:p>
          <a:p>
            <a:pPr algn="l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7319" y="1256709"/>
            <a:ext cx="7736681" cy="2345065"/>
            <a:chOff x="0" y="0"/>
            <a:chExt cx="10315575" cy="31267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5574" cy="3126758"/>
            </a:xfrm>
            <a:custGeom>
              <a:avLst/>
              <a:gdLst/>
              <a:ahLst/>
              <a:cxnLst/>
              <a:rect r="r" b="b" t="t" l="l"/>
              <a:pathLst>
                <a:path h="3126758" w="10315574">
                  <a:moveTo>
                    <a:pt x="0" y="0"/>
                  </a:moveTo>
                  <a:lnTo>
                    <a:pt x="10315574" y="0"/>
                  </a:lnTo>
                  <a:lnTo>
                    <a:pt x="10315574" y="3126758"/>
                  </a:lnTo>
                  <a:lnTo>
                    <a:pt x="0" y="31267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283" r="0" b="-1428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10315575" cy="3079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3888"/>
                </a:lnSpc>
              </a:pPr>
              <a:r>
                <a:rPr lang="en-US" sz="3600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Ecological Footprint Calculator</a:t>
              </a:r>
            </a:p>
            <a:p>
              <a:pPr algn="l" marL="651510" indent="-325755" lvl="1">
                <a:lnSpc>
                  <a:spcPts val="3888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 Personal ecological footprint </a:t>
              </a:r>
            </a:p>
            <a:p>
              <a:pPr algn="l" marL="651510" indent="-325755" lvl="1">
                <a:lnSpc>
                  <a:spcPts val="388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3325" y="3916794"/>
            <a:ext cx="8289265" cy="5031970"/>
            <a:chOff x="0" y="0"/>
            <a:chExt cx="11052353" cy="670929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52302" cy="6709249"/>
            </a:xfrm>
            <a:custGeom>
              <a:avLst/>
              <a:gdLst/>
              <a:ahLst/>
              <a:cxnLst/>
              <a:rect r="r" b="b" t="t" l="l"/>
              <a:pathLst>
                <a:path h="6709249" w="11052302">
                  <a:moveTo>
                    <a:pt x="0" y="0"/>
                  </a:moveTo>
                  <a:lnTo>
                    <a:pt x="11052302" y="0"/>
                  </a:lnTo>
                  <a:lnTo>
                    <a:pt x="11052302" y="6709249"/>
                  </a:lnTo>
                  <a:lnTo>
                    <a:pt x="0" y="6709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473" t="0" r="-9473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258300" y="1757639"/>
            <a:ext cx="7774781" cy="2345065"/>
            <a:chOff x="0" y="0"/>
            <a:chExt cx="10366375" cy="312675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366376" cy="3126758"/>
            </a:xfrm>
            <a:custGeom>
              <a:avLst/>
              <a:gdLst/>
              <a:ahLst/>
              <a:cxnLst/>
              <a:rect r="r" b="b" t="t" l="l"/>
              <a:pathLst>
                <a:path h="3126758" w="10366376">
                  <a:moveTo>
                    <a:pt x="0" y="0"/>
                  </a:moveTo>
                  <a:lnTo>
                    <a:pt x="10366376" y="0"/>
                  </a:lnTo>
                  <a:lnTo>
                    <a:pt x="10366376" y="3126758"/>
                  </a:lnTo>
                  <a:lnTo>
                    <a:pt x="0" y="31267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600" r="0" b="-1460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47625"/>
              <a:ext cx="10366375" cy="3079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3888"/>
                </a:lnSpc>
              </a:pPr>
              <a:r>
                <a:rPr lang="en-US" sz="3600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Carbon Footprint Calculator</a:t>
              </a:r>
            </a:p>
            <a:p>
              <a:pPr algn="l" marL="651510" indent="-325755" lvl="1">
                <a:lnSpc>
                  <a:spcPts val="3888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 Household emissions </a:t>
              </a:r>
            </a:p>
            <a:p>
              <a:pPr algn="l" marL="651510" indent="-325755" lvl="1">
                <a:lnSpc>
                  <a:spcPts val="3888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 Transportation emissions</a:t>
              </a:r>
            </a:p>
            <a:p>
              <a:pPr algn="l" marL="651510" indent="-325755" lvl="1">
                <a:lnSpc>
                  <a:spcPts val="3888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267025" y="3916794"/>
            <a:ext cx="8297332" cy="5031970"/>
            <a:chOff x="0" y="0"/>
            <a:chExt cx="11063110" cy="67092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63097" cy="6709233"/>
            </a:xfrm>
            <a:custGeom>
              <a:avLst/>
              <a:gdLst/>
              <a:ahLst/>
              <a:cxnLst/>
              <a:rect r="r" b="b" t="t" l="l"/>
              <a:pathLst>
                <a:path h="6709233" w="11063097">
                  <a:moveTo>
                    <a:pt x="0" y="0"/>
                  </a:moveTo>
                  <a:lnTo>
                    <a:pt x="11063097" y="0"/>
                  </a:lnTo>
                  <a:lnTo>
                    <a:pt x="11063097" y="6709233"/>
                  </a:lnTo>
                  <a:lnTo>
                    <a:pt x="0" y="67092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452" t="0" r="-9452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0510" y="1661349"/>
            <a:ext cx="7736681" cy="1990117"/>
            <a:chOff x="0" y="0"/>
            <a:chExt cx="10315575" cy="26534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5574" cy="2653488"/>
            </a:xfrm>
            <a:custGeom>
              <a:avLst/>
              <a:gdLst/>
              <a:ahLst/>
              <a:cxnLst/>
              <a:rect r="r" b="b" t="t" l="l"/>
              <a:pathLst>
                <a:path h="2653488" w="10315574">
                  <a:moveTo>
                    <a:pt x="0" y="0"/>
                  </a:moveTo>
                  <a:lnTo>
                    <a:pt x="10315574" y="0"/>
                  </a:lnTo>
                  <a:lnTo>
                    <a:pt x="10315574" y="2653488"/>
                  </a:lnTo>
                  <a:lnTo>
                    <a:pt x="0" y="2653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698" r="0" b="-679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10315575" cy="256776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3499"/>
                </a:lnSpc>
              </a:pPr>
              <a:r>
                <a:rPr lang="en-US" sz="3600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EcoTransit CO₂ Calculator</a:t>
              </a:r>
            </a:p>
            <a:p>
              <a:pPr algn="l" marL="651510" indent="-325755" lvl="1">
                <a:lnSpc>
                  <a:spcPts val="3499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 Comparison of transport emissions</a:t>
              </a:r>
            </a:p>
            <a:p>
              <a:pPr algn="l" marL="651510" indent="-325755" lvl="1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06101" y="3910079"/>
            <a:ext cx="8517497" cy="4974176"/>
            <a:chOff x="0" y="0"/>
            <a:chExt cx="11313998" cy="6607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314049" cy="6607273"/>
            </a:xfrm>
            <a:custGeom>
              <a:avLst/>
              <a:gdLst/>
              <a:ahLst/>
              <a:cxnLst/>
              <a:rect r="r" b="b" t="t" l="l"/>
              <a:pathLst>
                <a:path h="6607273" w="11314049">
                  <a:moveTo>
                    <a:pt x="0" y="0"/>
                  </a:moveTo>
                  <a:lnTo>
                    <a:pt x="11314049" y="0"/>
                  </a:lnTo>
                  <a:lnTo>
                    <a:pt x="11314049" y="6607273"/>
                  </a:lnTo>
                  <a:lnTo>
                    <a:pt x="0" y="6607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029" t="0" r="-3029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0" y="2097837"/>
            <a:ext cx="7774781" cy="1553629"/>
            <a:chOff x="0" y="0"/>
            <a:chExt cx="10366375" cy="20715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366376" cy="2071504"/>
            </a:xfrm>
            <a:custGeom>
              <a:avLst/>
              <a:gdLst/>
              <a:ahLst/>
              <a:cxnLst/>
              <a:rect r="r" b="b" t="t" l="l"/>
              <a:pathLst>
                <a:path h="2071504" w="10366376">
                  <a:moveTo>
                    <a:pt x="0" y="0"/>
                  </a:moveTo>
                  <a:lnTo>
                    <a:pt x="10366376" y="0"/>
                  </a:lnTo>
                  <a:lnTo>
                    <a:pt x="10366376" y="2071504"/>
                  </a:lnTo>
                  <a:lnTo>
                    <a:pt x="0" y="2071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734" r="0" b="-3728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85725"/>
              <a:ext cx="10366375" cy="198578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3499"/>
                </a:lnSpc>
              </a:pPr>
              <a:r>
                <a:rPr lang="en-US" sz="3600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e-AMRIT CO₂ Calculator</a:t>
              </a:r>
            </a:p>
            <a:p>
              <a:pPr algn="l" marL="651510" indent="-325755" lvl="1">
                <a:lnSpc>
                  <a:spcPts val="3499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Vehicle emission analysis</a:t>
              </a:r>
            </a:p>
            <a:p>
              <a:pPr algn="l" marL="651510" indent="-325755" lvl="1">
                <a:lnSpc>
                  <a:spcPts val="34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258300" y="3910079"/>
            <a:ext cx="8558917" cy="4974176"/>
            <a:chOff x="0" y="0"/>
            <a:chExt cx="11411890" cy="66322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11839" cy="6632187"/>
            </a:xfrm>
            <a:custGeom>
              <a:avLst/>
              <a:gdLst/>
              <a:ahLst/>
              <a:cxnLst/>
              <a:rect r="r" b="b" t="t" l="l"/>
              <a:pathLst>
                <a:path h="6632187" w="11411839">
                  <a:moveTo>
                    <a:pt x="0" y="0"/>
                  </a:moveTo>
                  <a:lnTo>
                    <a:pt x="11411839" y="0"/>
                  </a:lnTo>
                  <a:lnTo>
                    <a:pt x="11411839" y="6632187"/>
                  </a:lnTo>
                  <a:lnTo>
                    <a:pt x="0" y="6632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6229" t="0" r="-16229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9681" y="1679133"/>
            <a:ext cx="7736681" cy="2078480"/>
            <a:chOff x="0" y="0"/>
            <a:chExt cx="10315575" cy="27713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5574" cy="2771305"/>
            </a:xfrm>
            <a:custGeom>
              <a:avLst/>
              <a:gdLst/>
              <a:ahLst/>
              <a:cxnLst/>
              <a:rect r="r" b="b" t="t" l="l"/>
              <a:pathLst>
                <a:path h="2771305" w="10315574">
                  <a:moveTo>
                    <a:pt x="0" y="0"/>
                  </a:moveTo>
                  <a:lnTo>
                    <a:pt x="10315574" y="0"/>
                  </a:lnTo>
                  <a:lnTo>
                    <a:pt x="10315574" y="2771305"/>
                  </a:lnTo>
                  <a:lnTo>
                    <a:pt x="0" y="27713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798" r="0" b="-225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10315575" cy="268558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3499"/>
                </a:lnSpc>
              </a:pPr>
              <a:r>
                <a:rPr lang="en-US" sz="3600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En-ROADS Climate Simulator</a:t>
              </a:r>
            </a:p>
            <a:p>
              <a:pPr algn="l" marL="651510" indent="-325755" lvl="1">
                <a:lnSpc>
                  <a:spcPts val="3499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Climate policy simulation</a:t>
              </a:r>
            </a:p>
            <a:p>
              <a:pPr algn="l" marL="651510" indent="-325755" lvl="1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1999" y="3757612"/>
            <a:ext cx="8255870" cy="4007644"/>
            <a:chOff x="0" y="0"/>
            <a:chExt cx="11007827" cy="53435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07852" cy="5343525"/>
            </a:xfrm>
            <a:custGeom>
              <a:avLst/>
              <a:gdLst/>
              <a:ahLst/>
              <a:cxnLst/>
              <a:rect r="r" b="b" t="t" l="l"/>
              <a:pathLst>
                <a:path h="5343525" w="11007852">
                  <a:moveTo>
                    <a:pt x="0" y="0"/>
                  </a:moveTo>
                  <a:lnTo>
                    <a:pt x="11007852" y="0"/>
                  </a:lnTo>
                  <a:lnTo>
                    <a:pt x="11007852" y="5343525"/>
                  </a:lnTo>
                  <a:lnTo>
                    <a:pt x="0" y="5343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258300" y="1864096"/>
            <a:ext cx="7774781" cy="1893516"/>
            <a:chOff x="0" y="0"/>
            <a:chExt cx="10366375" cy="25246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366376" cy="2524687"/>
            </a:xfrm>
            <a:custGeom>
              <a:avLst/>
              <a:gdLst/>
              <a:ahLst/>
              <a:cxnLst/>
              <a:rect r="r" b="b" t="t" l="l"/>
              <a:pathLst>
                <a:path h="2524687" w="10366376">
                  <a:moveTo>
                    <a:pt x="0" y="0"/>
                  </a:moveTo>
                  <a:lnTo>
                    <a:pt x="10366376" y="0"/>
                  </a:lnTo>
                  <a:lnTo>
                    <a:pt x="10366376" y="2524687"/>
                  </a:lnTo>
                  <a:lnTo>
                    <a:pt x="0" y="25246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371" r="0" b="-1263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85725"/>
              <a:ext cx="10366375" cy="243896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3499"/>
                </a:lnSpc>
              </a:pPr>
              <a:r>
                <a:rPr lang="en-US" sz="3600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NANDO AI</a:t>
              </a:r>
            </a:p>
            <a:p>
              <a:pPr algn="l" marL="651510" indent="-325755" lvl="1">
                <a:lnSpc>
                  <a:spcPts val="3499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AI-powered waste monitoring</a:t>
              </a:r>
            </a:p>
            <a:p>
              <a:pPr algn="l" marL="651510" indent="-325755" lvl="1">
                <a:lnSpc>
                  <a:spcPts val="34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0" y="3757612"/>
            <a:ext cx="8316878" cy="3866721"/>
            <a:chOff x="0" y="0"/>
            <a:chExt cx="11089170" cy="51556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89132" cy="5155692"/>
            </a:xfrm>
            <a:custGeom>
              <a:avLst/>
              <a:gdLst/>
              <a:ahLst/>
              <a:cxnLst/>
              <a:rect r="r" b="b" t="t" l="l"/>
              <a:pathLst>
                <a:path h="5155692" w="11089132">
                  <a:moveTo>
                    <a:pt x="0" y="0"/>
                  </a:moveTo>
                  <a:lnTo>
                    <a:pt x="11089132" y="0"/>
                  </a:lnTo>
                  <a:lnTo>
                    <a:pt x="11089132" y="5155692"/>
                  </a:lnTo>
                  <a:lnTo>
                    <a:pt x="0" y="5155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28"/>
                </a:lnSpc>
              </a:pPr>
              <a:r>
                <a:rPr lang="en-US" sz="66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Green Skilling, Sustainability &amp; AI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57300" y="2640806"/>
            <a:ext cx="7589520" cy="6377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3254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Green Skilling</a:t>
            </a:r>
          </a:p>
          <a:p>
            <a:pPr algn="l" marL="589074" indent="-294537" lvl="1">
              <a:lnSpc>
                <a:spcPts val="2812"/>
              </a:lnSpc>
              <a:buFont typeface="Arial"/>
              <a:buChar char="•"/>
            </a:pPr>
            <a:r>
              <a:rPr lang="en-US" sz="325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Bui</a:t>
            </a:r>
            <a:r>
              <a:rPr lang="en-US" sz="325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lds expertise in environmentally responsible practices and hands-on capabilities.</a:t>
            </a:r>
          </a:p>
          <a:p>
            <a:pPr algn="l" marL="589074" indent="-294537" lvl="1">
              <a:lnSpc>
                <a:spcPts val="2812"/>
              </a:lnSpc>
              <a:buFont typeface="Arial"/>
              <a:buChar char="•"/>
            </a:pPr>
            <a:r>
              <a:rPr lang="en-US" sz="325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Generates job opportunities within sustainable sectors.</a:t>
            </a:r>
          </a:p>
          <a:p>
            <a:pPr algn="l" marL="589074" indent="-294537" lvl="1">
              <a:lnSpc>
                <a:spcPts val="2812"/>
              </a:lnSpc>
              <a:buFont typeface="Arial"/>
              <a:buChar char="•"/>
            </a:pPr>
            <a:r>
              <a:rPr lang="en-US" sz="325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Encourages the adoption of earth-conscious methods. </a:t>
            </a:r>
          </a:p>
          <a:p>
            <a:pPr algn="l" marL="589074" indent="-294537" lvl="1">
              <a:lnSpc>
                <a:spcPts val="2812"/>
              </a:lnSpc>
            </a:pPr>
          </a:p>
          <a:p>
            <a:pPr algn="l" marL="589074" indent="-294537" lvl="1">
              <a:lnSpc>
                <a:spcPts val="2812"/>
              </a:lnSpc>
            </a:pPr>
            <a:r>
              <a:rPr lang="en-US" b="true" sz="3254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Sustainability</a:t>
            </a:r>
          </a:p>
          <a:p>
            <a:pPr algn="l" marL="589074" indent="-294537" lvl="1">
              <a:lnSpc>
                <a:spcPts val="2812"/>
              </a:lnSpc>
              <a:buFont typeface="Arial"/>
              <a:buChar char="•"/>
            </a:pPr>
            <a:r>
              <a:rPr lang="en-US" sz="325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H</a:t>
            </a:r>
            <a:r>
              <a:rPr lang="en-US" sz="325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armonizes social well-being, environmental health, and economic growth.</a:t>
            </a:r>
          </a:p>
          <a:p>
            <a:pPr algn="l" marL="589074" indent="-294537" lvl="1">
              <a:lnSpc>
                <a:spcPts val="2812"/>
              </a:lnSpc>
              <a:buFont typeface="Arial"/>
              <a:buChar char="•"/>
            </a:pPr>
            <a:r>
              <a:rPr lang="en-US" sz="325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Preserves Earth's natural assets.</a:t>
            </a:r>
          </a:p>
          <a:p>
            <a:pPr algn="l" marL="589074" indent="-294537" lvl="1">
              <a:lnSpc>
                <a:spcPts val="2812"/>
              </a:lnSpc>
              <a:buFont typeface="Arial"/>
              <a:buChar char="•"/>
            </a:pPr>
            <a:r>
              <a:rPr lang="en-US" sz="325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Enables ongoing ecological safeguarding for future generations.</a:t>
            </a:r>
          </a:p>
          <a:p>
            <a:pPr algn="l">
              <a:lnSpc>
                <a:spcPts val="2812"/>
              </a:lnSpc>
            </a:pPr>
          </a:p>
          <a:p>
            <a:pPr algn="l" marL="589074" indent="-294537" lvl="1">
              <a:lnSpc>
                <a:spcPts val="2812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235440" y="2986526"/>
            <a:ext cx="8004067" cy="567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3254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AI for Sustainability</a:t>
            </a:r>
          </a:p>
          <a:p>
            <a:pPr algn="l" marL="589074" indent="-294537" lvl="1">
              <a:lnSpc>
                <a:spcPts val="2812"/>
              </a:lnSpc>
              <a:buFont typeface="Arial"/>
              <a:buChar char="•"/>
            </a:pPr>
            <a:r>
              <a:rPr lang="en-US" sz="325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Technology-d</a:t>
            </a:r>
            <a:r>
              <a:rPr lang="en-US" sz="325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riven farming techniques for optimal resource use</a:t>
            </a:r>
          </a:p>
          <a:p>
            <a:pPr algn="l" marL="589074" indent="-294537" lvl="1">
              <a:lnSpc>
                <a:spcPts val="2812"/>
              </a:lnSpc>
              <a:buFont typeface="Arial"/>
              <a:buChar char="•"/>
            </a:pPr>
            <a:r>
              <a:rPr lang="en-US" sz="325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Strategic power consumption management</a:t>
            </a:r>
          </a:p>
          <a:p>
            <a:pPr algn="l" marL="589074" indent="-294537" lvl="1">
              <a:lnSpc>
                <a:spcPts val="2812"/>
              </a:lnSpc>
              <a:buFont typeface="Arial"/>
              <a:buChar char="•"/>
            </a:pPr>
            <a:r>
              <a:rPr lang="en-US" sz="325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Assessment and tracking of greenhouse gas outputs</a:t>
            </a:r>
          </a:p>
          <a:p>
            <a:pPr algn="l" marL="589074" indent="-294537" lvl="1">
              <a:lnSpc>
                <a:spcPts val="2812"/>
              </a:lnSpc>
            </a:pPr>
          </a:p>
          <a:p>
            <a:pPr algn="l" marL="589074" indent="-294537" lvl="1">
              <a:lnSpc>
                <a:spcPts val="2812"/>
              </a:lnSpc>
            </a:pPr>
            <a:r>
              <a:rPr lang="en-US" b="true" sz="3254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Challenges</a:t>
            </a:r>
          </a:p>
          <a:p>
            <a:pPr algn="l" marL="589074" indent="-294537" lvl="1">
              <a:lnSpc>
                <a:spcPts val="2812"/>
              </a:lnSpc>
              <a:buFont typeface="Arial"/>
              <a:buChar char="•"/>
            </a:pPr>
            <a:r>
              <a:rPr lang="en-US" sz="325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Excess</a:t>
            </a:r>
            <a:r>
              <a:rPr lang="en-US" sz="325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ive power requirements</a:t>
            </a:r>
          </a:p>
          <a:p>
            <a:pPr algn="l" marL="589074" indent="-294537" lvl="1">
              <a:lnSpc>
                <a:spcPts val="2812"/>
              </a:lnSpc>
              <a:buFont typeface="Arial"/>
              <a:buChar char="•"/>
            </a:pPr>
            <a:r>
              <a:rPr lang="en-US" sz="325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Significant water consumption for cooling facilities</a:t>
            </a:r>
          </a:p>
          <a:p>
            <a:pPr algn="l" marL="589074" indent="-294537" lvl="1">
              <a:lnSpc>
                <a:spcPts val="2812"/>
              </a:lnSpc>
              <a:buFont typeface="Arial"/>
              <a:buChar char="•"/>
            </a:pPr>
            <a:r>
              <a:rPr lang="en-US" sz="325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Accumulation of discarded electronic equipment</a:t>
            </a:r>
          </a:p>
          <a:p>
            <a:pPr algn="l" marL="589074" indent="-294537" lvl="1">
              <a:lnSpc>
                <a:spcPts val="2812"/>
              </a:lnSpc>
              <a:buFont typeface="Arial"/>
              <a:buChar char="•"/>
            </a:pPr>
            <a:r>
              <a:rPr lang="en-US" sz="325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Greenhouse gas production from AI computing infrastructure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979826" cy="1212875"/>
            <a:chOff x="0" y="0"/>
            <a:chExt cx="21306434" cy="16171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06430" cy="1617162"/>
            </a:xfrm>
            <a:custGeom>
              <a:avLst/>
              <a:gdLst/>
              <a:ahLst/>
              <a:cxnLst/>
              <a:rect r="r" b="b" t="t" l="l"/>
              <a:pathLst>
                <a:path h="1617162" w="21306430">
                  <a:moveTo>
                    <a:pt x="0" y="0"/>
                  </a:moveTo>
                  <a:lnTo>
                    <a:pt x="21306430" y="0"/>
                  </a:lnTo>
                  <a:lnTo>
                    <a:pt x="21306430" y="1617162"/>
                  </a:lnTo>
                  <a:lnTo>
                    <a:pt x="0" y="161716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6719" r="0" b="-20671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1306434" cy="15504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4800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CAPSTONE PROJECT - AI Campus Sustainability Dashboard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8740" y="2173567"/>
            <a:ext cx="15590520" cy="8067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36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Problem Statement</a:t>
            </a:r>
          </a:p>
          <a:p>
            <a:pPr algn="l" marL="651510" indent="-325755" lvl="1">
              <a:lnSpc>
                <a:spcPts val="3499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Educational institutions often lack a centralized system to monitor electricity usage, water consumption, waste generation, and sustainability performance.</a:t>
            </a:r>
          </a:p>
          <a:p>
            <a:pPr algn="l" marL="651510" indent="-325755" lvl="1">
              <a:lnSpc>
                <a:spcPts val="3499"/>
              </a:lnSpc>
            </a:pPr>
          </a:p>
          <a:p>
            <a:pPr algn="l" marL="651510" indent="-325755" lvl="1">
              <a:lnSpc>
                <a:spcPts val="3499"/>
              </a:lnSpc>
            </a:pPr>
            <a:r>
              <a:rPr lang="en-US" b="true" sz="36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Proposed Solution</a:t>
            </a:r>
          </a:p>
          <a:p>
            <a:pPr algn="l" marL="651510" indent="-325755" lvl="1">
              <a:lnSpc>
                <a:spcPts val="3499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Develop a dashboard that tracks campus sustainability metrics and provides AI-driven recommendations for improvement.</a:t>
            </a:r>
          </a:p>
          <a:p>
            <a:pPr algn="l" marL="651510" indent="-325755" lvl="1">
              <a:lnSpc>
                <a:spcPts val="3499"/>
              </a:lnSpc>
            </a:pPr>
          </a:p>
          <a:p>
            <a:pPr algn="l" marL="651510" indent="-325755" lvl="1">
              <a:lnSpc>
                <a:spcPts val="3499"/>
              </a:lnSpc>
            </a:pPr>
            <a:r>
              <a:rPr lang="en-US" b="true" sz="36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AI Component</a:t>
            </a:r>
          </a:p>
          <a:p>
            <a:pPr algn="l" marL="651510" indent="-325755" lvl="1">
              <a:lnSpc>
                <a:spcPts val="3499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Predictive analytics and anomaly detection.</a:t>
            </a:r>
          </a:p>
          <a:p>
            <a:pPr algn="l" marL="651510" indent="-325755" lvl="1">
              <a:lnSpc>
                <a:spcPts val="3499"/>
              </a:lnSpc>
            </a:pPr>
          </a:p>
          <a:p>
            <a:pPr algn="l" marL="651510" indent="-325755" lvl="1">
              <a:lnSpc>
                <a:spcPts val="3499"/>
              </a:lnSpc>
            </a:pPr>
            <a:r>
              <a:rPr lang="en-US" b="true" sz="36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Related SDGs: </a:t>
            </a: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11, 12, 13, 17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DAHOnIjI5_o</dc:identifier>
  <dcterms:modified xsi:type="dcterms:W3CDTF">2011-08-01T06:04:30Z</dcterms:modified>
  <cp:revision>1</cp:revision>
  <dc:title>Edunet Greenskill.pptx</dc:title>
</cp:coreProperties>
</file>