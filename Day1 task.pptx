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" charset="1" panose="00000500000000000000"/>
      <p:regular r:id="rId13"/>
    </p:embeddedFont>
    <p:embeddedFont>
      <p:font typeface="Montserrat Bold" charset="1" panose="00000800000000000000"/>
      <p:regular r:id="rId14"/>
    </p:embeddedFont>
    <p:embeddedFont>
      <p:font typeface="Lato" charset="1" panose="020F0502020204030203"/>
      <p:regular r:id="rId15"/>
    </p:embeddedFont>
    <p:embeddedFont>
      <p:font typeface="Aptos Bold" charset="1" panose="020B0004020202020204"/>
      <p:regular r:id="rId16"/>
    </p:embeddedFont>
    <p:embeddedFont>
      <p:font typeface="Aptos" charset="1" panose="020B00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7080" y="1995472"/>
            <a:ext cx="14953840" cy="636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SHARMA BHAVESHKUMAR PANKAJBHAI</a:t>
            </a:r>
          </a:p>
          <a:p>
            <a:pPr algn="ctr">
              <a:lnSpc>
                <a:spcPts val="5646"/>
              </a:lnSpc>
            </a:pPr>
          </a:p>
          <a:p>
            <a:pPr algn="ctr">
              <a:lnSpc>
                <a:spcPts val="5646"/>
              </a:lnSpc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Enrollment - </a:t>
            </a:r>
            <a:r>
              <a:rPr lang="en-US" sz="522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230840131124</a:t>
            </a:r>
          </a:p>
          <a:p>
            <a:pPr algn="ctr">
              <a:lnSpc>
                <a:spcPts val="5646"/>
              </a:lnSpc>
            </a:pPr>
          </a:p>
          <a:p>
            <a:pPr algn="ctr">
              <a:lnSpc>
                <a:spcPts val="5646"/>
              </a:lnSpc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Stream - Computer Science and Engineering</a:t>
            </a:r>
          </a:p>
          <a:p>
            <a:pPr algn="ctr">
              <a:lnSpc>
                <a:spcPts val="5646"/>
              </a:lnSpc>
            </a:pPr>
          </a:p>
          <a:p>
            <a:pPr algn="ctr">
              <a:lnSpc>
                <a:spcPts val="5646"/>
              </a:lnSpc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College - R.N.G. Patel Institute of Technology</a:t>
            </a:r>
          </a:p>
          <a:p>
            <a:pPr algn="ctr">
              <a:lnSpc>
                <a:spcPts val="5646"/>
              </a:lnSpc>
            </a:pPr>
          </a:p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Date - 06 July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213973"/>
            <a:chOff x="0" y="0"/>
            <a:chExt cx="21031200" cy="16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618624"/>
            </a:xfrm>
            <a:custGeom>
              <a:avLst/>
              <a:gdLst/>
              <a:ahLst/>
              <a:cxnLst/>
              <a:rect r="r" b="b" t="t" l="l"/>
              <a:pathLst>
                <a:path h="161862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618624"/>
                  </a:lnTo>
                  <a:lnTo>
                    <a:pt x="0" y="1618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455" r="0" b="-1828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1031200" cy="1561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sz="5940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THINGS I LERANED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71479" y="2205689"/>
            <a:ext cx="8116322" cy="677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5"/>
              </a:lnSpc>
              <a:spcBef>
                <a:spcPct val="0"/>
              </a:spcBef>
            </a:pPr>
            <a:r>
              <a:rPr lang="en-US" b="true" sz="2946" u="sng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AI Data Center D</a:t>
            </a:r>
            <a:r>
              <a:rPr lang="en-US" b="true" sz="2946" u="sng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ocumentary</a:t>
            </a:r>
          </a:p>
          <a:p>
            <a:pPr algn="just" marL="636252" indent="-318126" lvl="1">
              <a:lnSpc>
                <a:spcPts val="4125"/>
              </a:lnSpc>
              <a:spcBef>
                <a:spcPct val="0"/>
              </a:spcBef>
              <a:buFont typeface="Arial"/>
              <a:buChar char="•"/>
            </a:pPr>
            <a:r>
              <a:rPr lang="en-US" sz="294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Data centers supporting AI operations require substantial quantities of electrical power and water resources.</a:t>
            </a:r>
          </a:p>
          <a:p>
            <a:pPr algn="just" marL="636252" indent="-318126" lvl="1">
              <a:lnSpc>
                <a:spcPts val="4125"/>
              </a:lnSpc>
              <a:spcBef>
                <a:spcPct val="0"/>
              </a:spcBef>
              <a:buFont typeface="Arial"/>
              <a:buChar char="•"/>
            </a:pPr>
            <a:r>
              <a:rPr lang="en-US" sz="294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expansion of AI technology leads to heightened energy consumption and greenhouse gas output.</a:t>
            </a:r>
          </a:p>
          <a:p>
            <a:pPr algn="just" marL="636252" indent="-318126" lvl="1">
              <a:lnSpc>
                <a:spcPts val="4125"/>
              </a:lnSpc>
              <a:spcBef>
                <a:spcPct val="0"/>
              </a:spcBef>
              <a:buFont typeface="Arial"/>
              <a:buChar char="•"/>
            </a:pPr>
            <a:r>
              <a:rPr lang="en-US" sz="294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Environmentally conscious AI approaches encompass:</a:t>
            </a:r>
          </a:p>
          <a:p>
            <a:pPr algn="just" marL="1272504" indent="-424168" lvl="2">
              <a:lnSpc>
                <a:spcPts val="4125"/>
              </a:lnSpc>
              <a:spcBef>
                <a:spcPct val="0"/>
              </a:spcBef>
              <a:buFont typeface="Arial"/>
              <a:buChar char="⚬"/>
            </a:pPr>
            <a:r>
              <a:rPr lang="en-US" sz="294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Sustainable Energy Sources</a:t>
            </a:r>
          </a:p>
          <a:p>
            <a:pPr algn="just" marL="1272504" indent="-424168" lvl="2">
              <a:lnSpc>
                <a:spcPts val="4125"/>
              </a:lnSpc>
              <a:spcBef>
                <a:spcPct val="0"/>
              </a:spcBef>
              <a:buFont typeface="Arial"/>
              <a:buChar char="⚬"/>
            </a:pPr>
            <a:r>
              <a:rPr lang="en-US" sz="294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Advanced Temperature Control Methods</a:t>
            </a:r>
          </a:p>
          <a:p>
            <a:pPr algn="just" marL="1272504" indent="-424168" lvl="2">
              <a:lnSpc>
                <a:spcPts val="4125"/>
              </a:lnSpc>
              <a:spcBef>
                <a:spcPct val="0"/>
              </a:spcBef>
              <a:buFont typeface="Arial"/>
              <a:buChar char="⚬"/>
            </a:pPr>
            <a:r>
              <a:rPr lang="en-US" sz="294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Power Usage Enhancement</a:t>
            </a:r>
          </a:p>
          <a:p>
            <a:pPr algn="just">
              <a:lnSpc>
                <a:spcPts val="400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96164"/>
            <a:ext cx="7657790" cy="672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3"/>
              </a:lnSpc>
              <a:spcBef>
                <a:spcPct val="0"/>
              </a:spcBef>
            </a:pPr>
            <a:r>
              <a:rPr lang="en-US" b="true" sz="3173" u="sng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Sustainable Development G</a:t>
            </a:r>
            <a:r>
              <a:rPr lang="en-US" b="true" sz="3173" u="sng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oals (SDGs)</a:t>
            </a:r>
          </a:p>
          <a:p>
            <a:pPr algn="l" marL="685257" indent="-342628" lvl="1">
              <a:lnSpc>
                <a:spcPts val="4443"/>
              </a:lnSpc>
              <a:spcBef>
                <a:spcPct val="0"/>
              </a:spcBef>
              <a:buFont typeface="Arial"/>
              <a:buChar char="•"/>
            </a:pPr>
            <a:r>
              <a:rPr lang="en-US" sz="31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collection of 17 SDGs works toward achieving sustainable development within the 2030 timeframe.</a:t>
            </a:r>
          </a:p>
          <a:p>
            <a:pPr algn="l" marL="685257" indent="-342628" lvl="1">
              <a:lnSpc>
                <a:spcPts val="4443"/>
              </a:lnSpc>
              <a:spcBef>
                <a:spcPct val="0"/>
              </a:spcBef>
              <a:buFont typeface="Arial"/>
              <a:buChar char="•"/>
            </a:pPr>
            <a:r>
              <a:rPr lang="en-US" sz="31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SDG I find most compelling: SDG 17 – Partnerships for the Goals</a:t>
            </a:r>
          </a:p>
          <a:p>
            <a:pPr algn="l" marL="685257" indent="-342628" lvl="1">
              <a:lnSpc>
                <a:spcPts val="4443"/>
              </a:lnSpc>
              <a:spcBef>
                <a:spcPct val="0"/>
              </a:spcBef>
              <a:buFont typeface="Arial"/>
              <a:buChar char="•"/>
            </a:pPr>
            <a:r>
              <a:rPr lang="en-US" sz="31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Promotes cooperative efforts among governmental bodies, business sectors, and private citizens.</a:t>
            </a:r>
          </a:p>
          <a:p>
            <a:pPr algn="l" marL="685257" indent="-342628" lvl="1">
              <a:lnSpc>
                <a:spcPts val="4443"/>
              </a:lnSpc>
              <a:spcBef>
                <a:spcPct val="0"/>
              </a:spcBef>
              <a:buFont typeface="Arial"/>
              <a:buChar char="•"/>
            </a:pPr>
            <a:r>
              <a:rPr lang="en-US" sz="31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Fosters creative solutions and worldwide environmental responsibility.</a:t>
            </a:r>
          </a:p>
          <a:p>
            <a:pPr algn="l">
              <a:lnSpc>
                <a:spcPts val="44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98474" y="-483571"/>
            <a:ext cx="7736681" cy="2345068"/>
            <a:chOff x="0" y="0"/>
            <a:chExt cx="10315575" cy="312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5574" cy="3126763"/>
            </a:xfrm>
            <a:custGeom>
              <a:avLst/>
              <a:gdLst/>
              <a:ahLst/>
              <a:cxnLst/>
              <a:rect r="r" b="b" t="t" l="l"/>
              <a:pathLst>
                <a:path h="3126763" w="10315574">
                  <a:moveTo>
                    <a:pt x="0" y="0"/>
                  </a:moveTo>
                  <a:lnTo>
                    <a:pt x="10315574" y="0"/>
                  </a:lnTo>
                  <a:lnTo>
                    <a:pt x="10315574" y="3126763"/>
                  </a:lnTo>
                  <a:lnTo>
                    <a:pt x="0" y="31267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83" r="0" b="-1428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0315575" cy="307913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Ecological Footprint Calculator</a:t>
              </a:r>
            </a:p>
            <a:p>
              <a:pPr algn="l" marL="651510" indent="-325755" lvl="1">
                <a:lnSpc>
                  <a:spcPts val="3888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Personal ecological footprint </a:t>
              </a:r>
            </a:p>
            <a:p>
              <a:pPr algn="l" marL="651510" indent="-325755" lvl="1">
                <a:lnSpc>
                  <a:spcPts val="38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249774"/>
            <a:ext cx="8904978" cy="4345992"/>
            <a:chOff x="0" y="0"/>
            <a:chExt cx="11052353" cy="53939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52302" cy="5393962"/>
            </a:xfrm>
            <a:custGeom>
              <a:avLst/>
              <a:gdLst/>
              <a:ahLst/>
              <a:cxnLst/>
              <a:rect r="r" b="b" t="t" l="l"/>
              <a:pathLst>
                <a:path h="5393962" w="11052302">
                  <a:moveTo>
                    <a:pt x="0" y="0"/>
                  </a:moveTo>
                  <a:lnTo>
                    <a:pt x="11052302" y="0"/>
                  </a:lnTo>
                  <a:lnTo>
                    <a:pt x="11052302" y="5393962"/>
                  </a:lnTo>
                  <a:lnTo>
                    <a:pt x="0" y="5393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86" r="0" b="-228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5548430"/>
            <a:ext cx="7774781" cy="2345065"/>
            <a:chOff x="0" y="0"/>
            <a:chExt cx="10366375" cy="31267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6376" cy="3126758"/>
            </a:xfrm>
            <a:custGeom>
              <a:avLst/>
              <a:gdLst/>
              <a:ahLst/>
              <a:cxnLst/>
              <a:rect r="r" b="b" t="t" l="l"/>
              <a:pathLst>
                <a:path h="3126758" w="10366376">
                  <a:moveTo>
                    <a:pt x="0" y="0"/>
                  </a:moveTo>
                  <a:lnTo>
                    <a:pt x="10366376" y="0"/>
                  </a:lnTo>
                  <a:lnTo>
                    <a:pt x="10366376" y="3126758"/>
                  </a:lnTo>
                  <a:lnTo>
                    <a:pt x="0" y="3126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00" r="0" b="-146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0366375" cy="3079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Carbon Footprint Calculator</a:t>
              </a:r>
            </a:p>
            <a:p>
              <a:pPr algn="l" marL="651510" indent="-325755" lvl="1">
                <a:lnSpc>
                  <a:spcPts val="3888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Household emissions </a:t>
              </a:r>
            </a:p>
            <a:p>
              <a:pPr algn="l" marL="651510" indent="-325755" lvl="1">
                <a:lnSpc>
                  <a:spcPts val="3888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Transportation emissions</a:t>
              </a:r>
            </a:p>
            <a:p>
              <a:pPr algn="l" marL="651510" indent="-325755" lvl="1">
                <a:lnSpc>
                  <a:spcPts val="388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7961" y="5548430"/>
            <a:ext cx="8846039" cy="4488314"/>
            <a:chOff x="0" y="0"/>
            <a:chExt cx="11063110" cy="56132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63097" cy="5613164"/>
            </a:xfrm>
            <a:custGeom>
              <a:avLst/>
              <a:gdLst/>
              <a:ahLst/>
              <a:cxnLst/>
              <a:rect r="r" b="b" t="t" l="l"/>
              <a:pathLst>
                <a:path h="5613164" w="11063097">
                  <a:moveTo>
                    <a:pt x="0" y="0"/>
                  </a:moveTo>
                  <a:lnTo>
                    <a:pt x="11063097" y="0"/>
                  </a:lnTo>
                  <a:lnTo>
                    <a:pt x="11063097" y="5613164"/>
                  </a:lnTo>
                  <a:lnTo>
                    <a:pt x="0" y="5613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1" r="0" b="-26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31652" y="116252"/>
            <a:ext cx="7736681" cy="1990117"/>
            <a:chOff x="0" y="0"/>
            <a:chExt cx="10315575" cy="2653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5574" cy="2653488"/>
            </a:xfrm>
            <a:custGeom>
              <a:avLst/>
              <a:gdLst/>
              <a:ahLst/>
              <a:cxnLst/>
              <a:rect r="r" b="b" t="t" l="l"/>
              <a:pathLst>
                <a:path h="2653488" w="10315574">
                  <a:moveTo>
                    <a:pt x="0" y="0"/>
                  </a:moveTo>
                  <a:lnTo>
                    <a:pt x="10315574" y="0"/>
                  </a:lnTo>
                  <a:lnTo>
                    <a:pt x="10315574" y="2653488"/>
                  </a:lnTo>
                  <a:lnTo>
                    <a:pt x="0" y="2653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98" r="0" b="-679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0315575" cy="25677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99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EcoTransit CO₂ Calculator</a:t>
              </a:r>
            </a:p>
            <a:p>
              <a:pPr algn="l" marL="651510" indent="-325755" lvl="1">
                <a:lnSpc>
                  <a:spcPts val="3499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Comparison of transport emissions</a:t>
              </a:r>
            </a:p>
            <a:p>
              <a:pPr algn="l" marL="651510" indent="-325755" lvl="1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78900" y="116252"/>
            <a:ext cx="8517497" cy="4974176"/>
            <a:chOff x="0" y="0"/>
            <a:chExt cx="11313998" cy="6607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14049" cy="6607273"/>
            </a:xfrm>
            <a:custGeom>
              <a:avLst/>
              <a:gdLst/>
              <a:ahLst/>
              <a:cxnLst/>
              <a:rect r="r" b="b" t="t" l="l"/>
              <a:pathLst>
                <a:path h="6607273" w="11314049">
                  <a:moveTo>
                    <a:pt x="0" y="0"/>
                  </a:moveTo>
                  <a:lnTo>
                    <a:pt x="11314049" y="0"/>
                  </a:lnTo>
                  <a:lnTo>
                    <a:pt x="11314049" y="6607273"/>
                  </a:lnTo>
                  <a:lnTo>
                    <a:pt x="0" y="6607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29" t="0" r="-302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733459" y="5554530"/>
            <a:ext cx="7774781" cy="1553629"/>
            <a:chOff x="0" y="0"/>
            <a:chExt cx="10366375" cy="20715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6376" cy="2071504"/>
            </a:xfrm>
            <a:custGeom>
              <a:avLst/>
              <a:gdLst/>
              <a:ahLst/>
              <a:cxnLst/>
              <a:rect r="r" b="b" t="t" l="l"/>
              <a:pathLst>
                <a:path h="2071504" w="10366376">
                  <a:moveTo>
                    <a:pt x="0" y="0"/>
                  </a:moveTo>
                  <a:lnTo>
                    <a:pt x="10366376" y="0"/>
                  </a:lnTo>
                  <a:lnTo>
                    <a:pt x="10366376" y="2071504"/>
                  </a:lnTo>
                  <a:lnTo>
                    <a:pt x="0" y="2071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34" r="0" b="-372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10366375" cy="198578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99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e-AMRIT CO₂ Calculator</a:t>
              </a:r>
            </a:p>
            <a:p>
              <a:pPr algn="l" marL="651510" indent="-325755" lvl="1">
                <a:lnSpc>
                  <a:spcPts val="3499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Vehicle emission analysis</a:t>
              </a:r>
            </a:p>
            <a:p>
              <a:pPr algn="l" marL="651510" indent="-325755" lvl="1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4541" y="4855779"/>
            <a:ext cx="8558917" cy="4974176"/>
            <a:chOff x="0" y="0"/>
            <a:chExt cx="11411890" cy="6632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11839" cy="6632187"/>
            </a:xfrm>
            <a:custGeom>
              <a:avLst/>
              <a:gdLst/>
              <a:ahLst/>
              <a:cxnLst/>
              <a:rect r="r" b="b" t="t" l="l"/>
              <a:pathLst>
                <a:path h="6632187" w="11411839">
                  <a:moveTo>
                    <a:pt x="0" y="0"/>
                  </a:moveTo>
                  <a:lnTo>
                    <a:pt x="11411839" y="0"/>
                  </a:lnTo>
                  <a:lnTo>
                    <a:pt x="11411839" y="6632187"/>
                  </a:lnTo>
                  <a:lnTo>
                    <a:pt x="0" y="663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229" t="0" r="-16229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8764" y="243308"/>
            <a:ext cx="7736681" cy="2078480"/>
            <a:chOff x="0" y="0"/>
            <a:chExt cx="10315575" cy="2771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5574" cy="2771305"/>
            </a:xfrm>
            <a:custGeom>
              <a:avLst/>
              <a:gdLst/>
              <a:ahLst/>
              <a:cxnLst/>
              <a:rect r="r" b="b" t="t" l="l"/>
              <a:pathLst>
                <a:path h="2771305" w="10315574">
                  <a:moveTo>
                    <a:pt x="0" y="0"/>
                  </a:moveTo>
                  <a:lnTo>
                    <a:pt x="10315574" y="0"/>
                  </a:lnTo>
                  <a:lnTo>
                    <a:pt x="10315574" y="2771305"/>
                  </a:lnTo>
                  <a:lnTo>
                    <a:pt x="0" y="27713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98" r="0" b="-225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0315575" cy="268558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99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En-ROADS Climate Simulator</a:t>
              </a:r>
            </a:p>
            <a:p>
              <a:pPr algn="l" marL="651510" indent="-325755" lvl="1">
                <a:lnSpc>
                  <a:spcPts val="3499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Climate policy simulation</a:t>
              </a:r>
            </a:p>
            <a:p>
              <a:pPr algn="l" marL="651510" indent="-325755" lvl="1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243308"/>
            <a:ext cx="8875900" cy="4308625"/>
            <a:chOff x="0" y="0"/>
            <a:chExt cx="11007827" cy="5343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07852" cy="5343525"/>
            </a:xfrm>
            <a:custGeom>
              <a:avLst/>
              <a:gdLst/>
              <a:ahLst/>
              <a:cxnLst/>
              <a:rect r="r" b="b" t="t" l="l"/>
              <a:pathLst>
                <a:path h="5343525" w="11007852">
                  <a:moveTo>
                    <a:pt x="0" y="0"/>
                  </a:moveTo>
                  <a:lnTo>
                    <a:pt x="11007852" y="0"/>
                  </a:lnTo>
                  <a:lnTo>
                    <a:pt x="11007852" y="5343525"/>
                  </a:lnTo>
                  <a:lnTo>
                    <a:pt x="0" y="5343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5915024"/>
            <a:ext cx="7774781" cy="1893516"/>
            <a:chOff x="0" y="0"/>
            <a:chExt cx="10366375" cy="25246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6376" cy="2524687"/>
            </a:xfrm>
            <a:custGeom>
              <a:avLst/>
              <a:gdLst/>
              <a:ahLst/>
              <a:cxnLst/>
              <a:rect r="r" b="b" t="t" l="l"/>
              <a:pathLst>
                <a:path h="2524687" w="10366376">
                  <a:moveTo>
                    <a:pt x="0" y="0"/>
                  </a:moveTo>
                  <a:lnTo>
                    <a:pt x="10366376" y="0"/>
                  </a:lnTo>
                  <a:lnTo>
                    <a:pt x="10366376" y="2524687"/>
                  </a:lnTo>
                  <a:lnTo>
                    <a:pt x="0" y="25246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71" r="0" b="-1263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10366375" cy="24389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99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NANDO AI</a:t>
              </a:r>
            </a:p>
            <a:p>
              <a:pPr algn="l" marL="651510" indent="-325755" lvl="1">
                <a:lnSpc>
                  <a:spcPts val="3499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AI-powered waste monitoring</a:t>
              </a:r>
            </a:p>
            <a:p>
              <a:pPr algn="l" marL="651510" indent="-325755" lvl="1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2999" y="5915024"/>
            <a:ext cx="8981001" cy="4175489"/>
            <a:chOff x="0" y="0"/>
            <a:chExt cx="11089170" cy="51556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89132" cy="5155692"/>
            </a:xfrm>
            <a:custGeom>
              <a:avLst/>
              <a:gdLst/>
              <a:ahLst/>
              <a:cxnLst/>
              <a:rect r="r" b="b" t="t" l="l"/>
              <a:pathLst>
                <a:path h="5155692" w="11089132">
                  <a:moveTo>
                    <a:pt x="0" y="0"/>
                  </a:moveTo>
                  <a:lnTo>
                    <a:pt x="11089132" y="0"/>
                  </a:lnTo>
                  <a:lnTo>
                    <a:pt x="11089132" y="5155692"/>
                  </a:lnTo>
                  <a:lnTo>
                    <a:pt x="0" y="5155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452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Green Skilling, Sustainability &amp; AI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27647"/>
            <a:ext cx="7589520" cy="637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325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Green Skilling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Bui</a:t>
            </a: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lds expertise in environmentally responsible practices and hands-on capabilities.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Generates job opportunities within sustainable sectors.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Encourages the adoption of earth-conscious methods. </a:t>
            </a:r>
          </a:p>
          <a:p>
            <a:pPr algn="l" marL="589074" indent="-294537" lvl="1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  <a:r>
              <a:rPr lang="en-US" b="true" sz="325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Sustainability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</a:t>
            </a: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armonizes social well-being, environmental health, and economic growth.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Preserves Earth's natural assets.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Enables ongoing ecological safeguarding for future generations.</a:t>
            </a:r>
          </a:p>
          <a:p>
            <a:pPr algn="l">
              <a:lnSpc>
                <a:spcPts val="2812"/>
              </a:lnSpc>
            </a:pPr>
          </a:p>
          <a:p>
            <a:pPr algn="l" marL="589074" indent="-294537" lvl="1">
              <a:lnSpc>
                <a:spcPts val="281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255233" y="2127647"/>
            <a:ext cx="8004067" cy="5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325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AI for Sustainability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Technology-d</a:t>
            </a: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riven farming techniques for optimal resource use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Strategic power consumption management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Assessment and tracking of greenhouse gas outputs</a:t>
            </a:r>
          </a:p>
          <a:p>
            <a:pPr algn="l" marL="589074" indent="-294537" lvl="1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  <a:r>
              <a:rPr lang="en-US" b="true" sz="325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Challenges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Excess</a:t>
            </a: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ive power requirements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Significant water consumption for cooling facilities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Accumulation of discarded electronic equipment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Greenhouse gas production from AI computing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979826" cy="1212875"/>
            <a:chOff x="0" y="0"/>
            <a:chExt cx="21306434" cy="1617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06430" cy="1617162"/>
            </a:xfrm>
            <a:custGeom>
              <a:avLst/>
              <a:gdLst/>
              <a:ahLst/>
              <a:cxnLst/>
              <a:rect r="r" b="b" t="t" l="l"/>
              <a:pathLst>
                <a:path h="1617162" w="21306430">
                  <a:moveTo>
                    <a:pt x="0" y="0"/>
                  </a:moveTo>
                  <a:lnTo>
                    <a:pt x="21306430" y="0"/>
                  </a:lnTo>
                  <a:lnTo>
                    <a:pt x="21306430" y="1617162"/>
                  </a:lnTo>
                  <a:lnTo>
                    <a:pt x="0" y="1617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719" r="0" b="-206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306434" cy="15504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PROJECT - AI Campus Sustainability Dashboard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173567"/>
            <a:ext cx="15590520" cy="806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  <a:p>
            <a:pPr algn="l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Educational institutions often lack a centralized system to monitor electricity usage, water consumption, waste generation, and sustainability performance.</a:t>
            </a:r>
          </a:p>
          <a:p>
            <a:pPr algn="l" marL="651510" indent="-325755" lvl="1">
              <a:lnSpc>
                <a:spcPts val="3499"/>
              </a:lnSpc>
            </a:pPr>
          </a:p>
          <a:p>
            <a:pPr algn="l" marL="651510" indent="-325755" lvl="1">
              <a:lnSpc>
                <a:spcPts val="3499"/>
              </a:lnSpc>
            </a:pPr>
            <a:r>
              <a:rPr lang="en-US" b="true" sz="3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  <a:p>
            <a:pPr algn="l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Develop a dashboard that tracks campus sustainability metrics and provides AI-driven recommendations for improvement.</a:t>
            </a:r>
          </a:p>
          <a:p>
            <a:pPr algn="l" marL="651510" indent="-325755" lvl="1">
              <a:lnSpc>
                <a:spcPts val="3499"/>
              </a:lnSpc>
            </a:pPr>
          </a:p>
          <a:p>
            <a:pPr algn="l" marL="651510" indent="-325755" lvl="1">
              <a:lnSpc>
                <a:spcPts val="3499"/>
              </a:lnSpc>
            </a:pPr>
            <a:r>
              <a:rPr lang="en-US" b="true" sz="3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AI Component</a:t>
            </a:r>
          </a:p>
          <a:p>
            <a:pPr algn="l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Predictive analytics and anomaly detection.</a:t>
            </a:r>
          </a:p>
          <a:p>
            <a:pPr algn="l" marL="651510" indent="-325755" lvl="1">
              <a:lnSpc>
                <a:spcPts val="3499"/>
              </a:lnSpc>
            </a:pPr>
          </a:p>
          <a:p>
            <a:pPr algn="l" marL="651510" indent="-325755" lvl="1">
              <a:lnSpc>
                <a:spcPts val="3499"/>
              </a:lnSpc>
            </a:pPr>
            <a:r>
              <a:rPr lang="en-US" b="true" sz="3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Related SDGs: </a:t>
            </a: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11, 12, 13, 17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DAHOnIjI5_o</dc:identifier>
  <dcterms:modified xsi:type="dcterms:W3CDTF">2011-08-01T06:04:30Z</dcterms:modified>
  <cp:revision>1</cp:revision>
  <dc:title>Edunet Greenskill 124</dc:title>
</cp:coreProperties>
</file>